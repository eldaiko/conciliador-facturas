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" id="{950aa038-b966-8d64-3eda-5caf6d646016}">
          <p14:sldIdLst>
            <p14:sldId id="256"/>
          </p14:sldIdLst>
        </p14:section>
        <p14:section name="Solución" id="{03fbbf10-585d-29b3-6c8b-57e6b261db6a}">
          <p14:sldIdLst>
            <p14:sldId id="257"/>
          </p14:sldIdLst>
        </p14:section>
        <p14:section name="Flujo" id="{5993489e-674f-c5a0-bfd9-91439bd41b09}">
          <p14:sldIdLst>
            <p14:sldId id="258"/>
          </p14:sldIdLst>
        </p14:section>
        <p14:section name="Resultados" id="{444e6589-fa6c-573b-a8c3-0bc9ebaf6682}">
          <p14:sldIdLst>
            <p14:sldId id="259"/>
          </p14:sldIdLst>
        </p14:section>
        <p14:section name="Beneficios" id="{c3986134-8dac-941a-328f-5951f7a85f1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la conciliación entre facturas de proveedores y registros contables es manual. El enunciado lo resume en tres problemas: consume tiempo, dificulta la trazabilidad y genera reprocesos. El prototipo busca automatizar el cruce y dejar explicada cada diferencia.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prototipo recibe los dos archivos, aplica las reglas y clasifica cada factura como correcta o con inconsistencia. Lo diferencial es la trazabilidad: en la captura, la factura FAC-0006 reporta un IVA de 215.000 cuando el esperado es 190.000; el sistema muestra la diferencia de 25.000 y todos los cálculos.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es lineal: cargar, validar, conciliar y revisar. Si un archivo viene mal (por ejemplo, le falta una columna), el sistema lo rechaza con un mensaje claro. Si solo algunas filas tienen datos malos, esas facturas se marcan y el resto se procesa. Las seis validaciones de abajo incluyen las reglas del enunciado y algunas derivadas del caso, como la retención y el estado contable.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los 50 registros de la muestra, el prototipo clasifica 32 facturas como correctas y 18 con inconsistencia. Las causas más frecuentes son facturas duplicadas y sin registro contable. En dinero: 11,5 millones sin contabilizar, 5,6 millones con contabilización pendiente y 106.500 pesos en diferencias de cálculo. Nota: el resultado depende de supuestos documentados; si el estado pendiente no se tratara como inconsistencia, serían 35 correctas y 15 con inconsistencia.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enunciado describe tres problemas del proceso actual: consume tiempo, dificulta la trazabilidad y puede generar reprocesos. Esta diapositiva muestra qué cambia en cada uno con el prototipo. Los beneficios son cualitativos: no medimos tiempos reales del proceso actual, así que no se promete un porcentaje de ahorro.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Título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Prototipo con identidad visual inspirada en Bancolombia; no es un producto oficial. Datos ficticios.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7840" y="6400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Prototipo con identidad visual inspirada en Bancolombia; no es un producto oficial. Datos ficticios.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portada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ítulo"/>
          <p:cNvSpPr txBox="1"/>
          <p:nvPr/>
        </p:nvSpPr>
        <p:spPr>
          <a:xfrm>
            <a:off x="548640" y="14630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Conciliador de facturas y retenciones</a:t>
            </a:r>
            <a:endParaRPr lang="en-US" sz="3800" dirty="0"/>
          </a:p>
        </p:txBody>
      </p:sp>
      <p:sp>
        <p:nvSpPr>
          <p:cNvPr id="4" name="Subtítulo"/>
          <p:cNvSpPr txBox="1"/>
          <p:nvPr/>
        </p:nvSpPr>
        <p:spPr>
          <a:xfrm>
            <a:off x="548640" y="3657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Propuesta de prototipo para la Gerencia de Evolución Contable y Tributaria</a:t>
            </a:r>
            <a:endParaRPr lang="en-US" sz="1600" dirty="0"/>
          </a:p>
        </p:txBody>
      </p:sp>
      <p:sp>
        <p:nvSpPr>
          <p:cNvPr id="5" name="Encabezado problema"/>
          <p:cNvSpPr txBox="1"/>
          <p:nvPr/>
        </p:nvSpPr>
        <p:spPr>
          <a:xfrm>
            <a:off x="5577840" y="822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 problema hoy</a:t>
            </a:r>
            <a:endParaRPr lang="en-US" sz="2800" dirty="0"/>
          </a:p>
        </p:txBody>
      </p:sp>
      <p:sp>
        <p:nvSpPr>
          <p:cNvPr id="6" name="Contexto"/>
          <p:cNvSpPr txBox="1"/>
          <p:nvPr/>
        </p:nvSpPr>
        <p:spPr>
          <a:xfrm>
            <a:off x="5577840" y="14173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 mes, un analista cruza a mano el archivo de facturas de proveedores con el de registros contables.</a:t>
            </a:r>
            <a:endParaRPr lang="en-US" sz="1600" dirty="0"/>
          </a:p>
        </p:txBody>
      </p:sp>
      <p:sp>
        <p:nvSpPr>
          <p:cNvPr id="7" name="Círculo Consume tiempo"/>
          <p:cNvSpPr/>
          <p:nvPr/>
        </p:nvSpPr>
        <p:spPr>
          <a:xfrm>
            <a:off x="5577840" y="25146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Ícono Consume tiempo" descr="Consume tiem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2715768"/>
            <a:ext cx="374904" cy="374904"/>
          </a:xfrm>
          <a:prstGeom prst="rect">
            <a:avLst/>
          </a:prstGeom>
        </p:spPr>
      </p:pic>
      <p:sp>
        <p:nvSpPr>
          <p:cNvPr id="9" name="Punto Consume tiempo"/>
          <p:cNvSpPr txBox="1"/>
          <p:nvPr/>
        </p:nvSpPr>
        <p:spPr>
          <a:xfrm>
            <a:off x="658368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Consume tiempo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Revisar valores, impuestos, retenciones y estados factura por factura.</a:t>
            </a:r>
            <a:endParaRPr lang="en-US" sz="1800" dirty="0"/>
          </a:p>
        </p:txBody>
      </p:sp>
      <p:sp>
        <p:nvSpPr>
          <p:cNvPr id="10" name="Círculo Dificulta la trazabilidad"/>
          <p:cNvSpPr/>
          <p:nvPr/>
        </p:nvSpPr>
        <p:spPr>
          <a:xfrm>
            <a:off x="5577840" y="37033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cono Dificulta la trazabilidad" descr="Dificulta la trazabilid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3904488"/>
            <a:ext cx="374904" cy="374904"/>
          </a:xfrm>
          <a:prstGeom prst="rect">
            <a:avLst/>
          </a:prstGeom>
        </p:spPr>
      </p:pic>
      <p:sp>
        <p:nvSpPr>
          <p:cNvPr id="12" name="Punto Dificulta la trazabilidad"/>
          <p:cNvSpPr txBox="1"/>
          <p:nvPr/>
        </p:nvSpPr>
        <p:spPr>
          <a:xfrm>
            <a:off x="6583680" y="3657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Dificulta la trazabilidad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 difícil explicar por qué una factura no cuadra y con qué valores.</a:t>
            </a:r>
            <a:endParaRPr lang="en-US" sz="1800" dirty="0"/>
          </a:p>
        </p:txBody>
      </p:sp>
      <p:sp>
        <p:nvSpPr>
          <p:cNvPr id="13" name="Círculo Genera reprocesos"/>
          <p:cNvSpPr/>
          <p:nvPr/>
        </p:nvSpPr>
        <p:spPr>
          <a:xfrm>
            <a:off x="5577840" y="48920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Ícono Genera reprocesos" descr="Genera reproces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5093208"/>
            <a:ext cx="374904" cy="374904"/>
          </a:xfrm>
          <a:prstGeom prst="rect">
            <a:avLst/>
          </a:prstGeom>
        </p:spPr>
      </p:pic>
      <p:sp>
        <p:nvSpPr>
          <p:cNvPr id="15" name="Punto Genera reprocesos"/>
          <p:cNvSpPr txBox="1"/>
          <p:nvPr/>
        </p:nvSpPr>
        <p:spPr>
          <a:xfrm>
            <a:off x="6583680" y="4846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Genera reprocesos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Las diferencias y las facturas sin contabilizar se detectan tarde.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 solución: un conciliador automático y trazable</a:t>
            </a:r>
            <a:endParaRPr lang="en-US" sz="3400" dirty="0"/>
          </a:p>
        </p:txBody>
      </p:sp>
      <p:sp>
        <p:nvSpPr>
          <p:cNvPr id="3" name="Tarjeta Carga los dos archivos del mes"/>
          <p:cNvSpPr/>
          <p:nvPr/>
        </p:nvSpPr>
        <p:spPr>
          <a:xfrm>
            <a:off x="548640" y="1554480"/>
            <a:ext cx="4754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írculo Carga los dos archivos del mes"/>
          <p:cNvSpPr/>
          <p:nvPr/>
        </p:nvSpPr>
        <p:spPr>
          <a:xfrm>
            <a:off x="777240" y="184708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cono Carga los dos archivos del mes" descr="Carga los dos archivos del 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39112"/>
            <a:ext cx="347472" cy="347472"/>
          </a:xfrm>
          <a:prstGeom prst="rect">
            <a:avLst/>
          </a:prstGeom>
        </p:spPr>
      </p:pic>
      <p:sp>
        <p:nvSpPr>
          <p:cNvPr id="6" name="Texto Carga los dos archivos del mes"/>
          <p:cNvSpPr txBox="1"/>
          <p:nvPr/>
        </p:nvSpPr>
        <p:spPr>
          <a:xfrm>
            <a:off x="1737360" y="169164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Carga los dos archivos del mes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Facturas de proveedores y registros contables, en CSV.</a:t>
            </a:r>
            <a:endParaRPr lang="en-US" sz="1600" dirty="0"/>
          </a:p>
        </p:txBody>
      </p:sp>
      <p:sp>
        <p:nvSpPr>
          <p:cNvPr id="7" name="Tarjeta Aplica reglas contables y tributarias"/>
          <p:cNvSpPr/>
          <p:nvPr/>
        </p:nvSpPr>
        <p:spPr>
          <a:xfrm>
            <a:off x="548640" y="3108960"/>
            <a:ext cx="4754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írculo Aplica reglas contables y tributarias"/>
          <p:cNvSpPr/>
          <p:nvPr/>
        </p:nvSpPr>
        <p:spPr>
          <a:xfrm>
            <a:off x="777240" y="340156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Ícono Aplica reglas contables y tributarias" descr="Aplica reglas contables y tributari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593592"/>
            <a:ext cx="347472" cy="347472"/>
          </a:xfrm>
          <a:prstGeom prst="rect">
            <a:avLst/>
          </a:prstGeom>
        </p:spPr>
      </p:pic>
      <p:sp>
        <p:nvSpPr>
          <p:cNvPr id="10" name="Texto Aplica reglas contables y tributarias"/>
          <p:cNvSpPr txBox="1"/>
          <p:nvPr/>
        </p:nvSpPr>
        <p:spPr>
          <a:xfrm>
            <a:off x="1737360" y="32461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Aplica reglas contables y tributarias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IVA, total, retención, duplicados, facturas sin contabilizar y estado contable.</a:t>
            </a:r>
            <a:endParaRPr lang="en-US" sz="1600" dirty="0"/>
          </a:p>
        </p:txBody>
      </p:sp>
      <p:sp>
        <p:nvSpPr>
          <p:cNvPr id="11" name="Tarjeta Explica cada inconsistencia"/>
          <p:cNvSpPr/>
          <p:nvPr/>
        </p:nvSpPr>
        <p:spPr>
          <a:xfrm>
            <a:off x="548640" y="4663440"/>
            <a:ext cx="4754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írculo Explica cada inconsistencia"/>
          <p:cNvSpPr/>
          <p:nvPr/>
        </p:nvSpPr>
        <p:spPr>
          <a:xfrm>
            <a:off x="777240" y="495604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o Explica cada inconsistencia" descr="Explica cada inconsistenc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5148072"/>
            <a:ext cx="347472" cy="347472"/>
          </a:xfrm>
          <a:prstGeom prst="rect">
            <a:avLst/>
          </a:prstGeom>
        </p:spPr>
      </p:pic>
      <p:sp>
        <p:nvSpPr>
          <p:cNvPr id="14" name="Texto Explica cada inconsistencia"/>
          <p:cNvSpPr txBox="1"/>
          <p:nvPr/>
        </p:nvSpPr>
        <p:spPr>
          <a:xfrm>
            <a:off x="1737360" y="48006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Explica cada inconsistencia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Muestra la causa con el valor reportado, el esperado y la diferencia.</a:t>
            </a:r>
            <a:endParaRPr lang="en-US" sz="1600" dirty="0"/>
          </a:p>
        </p:txBody>
      </p:sp>
      <p:pic>
        <p:nvPicPr>
          <p:cNvPr id="15" name="Captura detalle" descr="Captura del prototipo: detalle de la factura FAC-0006 con IVA reportado de 215.000 frente a 190.000 espera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600200"/>
            <a:ext cx="5943600" cy="3649579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16" name="Pie de captura"/>
          <p:cNvSpPr txBox="1"/>
          <p:nvPr/>
        </p:nvSpPr>
        <p:spPr>
          <a:xfrm>
            <a:off x="5715000" y="5386939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Prototipo en funcionamiento: detalle de una factura con IVA mal calculado.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Cómo funciona: cuatro pasos</a:t>
            </a:r>
            <a:endParaRPr lang="en-US" sz="3400" dirty="0"/>
          </a:p>
        </p:txBody>
      </p:sp>
      <p:sp>
        <p:nvSpPr>
          <p:cNvPr id="3" name="Paso 1"/>
          <p:cNvSpPr/>
          <p:nvPr/>
        </p:nvSpPr>
        <p:spPr>
          <a:xfrm>
            <a:off x="548640" y="160020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úmero 1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ifra paso 1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o paso 1"/>
          <p:cNvSpPr txBox="1"/>
          <p:nvPr/>
        </p:nvSpPr>
        <p:spPr>
          <a:xfrm>
            <a:off x="822960" y="26974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Cargar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usuario selecciona facturas.csv y contabilidad.csv.</a:t>
            </a:r>
            <a:endParaRPr lang="en-US" sz="2000" dirty="0"/>
          </a:p>
        </p:txBody>
      </p:sp>
      <p:sp>
        <p:nvSpPr>
          <p:cNvPr id="7" name="Flecha 1"/>
          <p:cNvSpPr txBox="1"/>
          <p:nvPr/>
        </p:nvSpPr>
        <p:spPr>
          <a:xfrm>
            <a:off x="3044952" y="25146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›</a:t>
            </a:r>
            <a:endParaRPr lang="en-US" sz="2800" dirty="0"/>
          </a:p>
        </p:txBody>
      </p:sp>
      <p:sp>
        <p:nvSpPr>
          <p:cNvPr id="8" name="Paso 2"/>
          <p:cNvSpPr/>
          <p:nvPr/>
        </p:nvSpPr>
        <p:spPr>
          <a:xfrm>
            <a:off x="3401568" y="160020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 2"/>
          <p:cNvSpPr/>
          <p:nvPr/>
        </p:nvSpPr>
        <p:spPr>
          <a:xfrm>
            <a:off x="3675888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ifra paso 2"/>
          <p:cNvSpPr txBox="1"/>
          <p:nvPr/>
        </p:nvSpPr>
        <p:spPr>
          <a:xfrm>
            <a:off x="3675888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o paso 2"/>
          <p:cNvSpPr txBox="1"/>
          <p:nvPr/>
        </p:nvSpPr>
        <p:spPr>
          <a:xfrm>
            <a:off x="3675888" y="26974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Validar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revisa el formato y las columnas, y se marcan los campos vacíos.</a:t>
            </a:r>
            <a:endParaRPr lang="en-US" sz="2000" dirty="0"/>
          </a:p>
        </p:txBody>
      </p:sp>
      <p:sp>
        <p:nvSpPr>
          <p:cNvPr id="12" name="Flecha 2"/>
          <p:cNvSpPr txBox="1"/>
          <p:nvPr/>
        </p:nvSpPr>
        <p:spPr>
          <a:xfrm>
            <a:off x="5897880" y="25146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›</a:t>
            </a:r>
            <a:endParaRPr lang="en-US" sz="2800" dirty="0"/>
          </a:p>
        </p:txBody>
      </p:sp>
      <p:sp>
        <p:nvSpPr>
          <p:cNvPr id="13" name="Paso 3"/>
          <p:cNvSpPr/>
          <p:nvPr/>
        </p:nvSpPr>
        <p:spPr>
          <a:xfrm>
            <a:off x="6254496" y="160020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 3"/>
          <p:cNvSpPr/>
          <p:nvPr/>
        </p:nvSpPr>
        <p:spPr>
          <a:xfrm>
            <a:off x="6528816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ifra paso 3"/>
          <p:cNvSpPr txBox="1"/>
          <p:nvPr/>
        </p:nvSpPr>
        <p:spPr>
          <a:xfrm>
            <a:off x="6528816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o paso 3"/>
          <p:cNvSpPr txBox="1"/>
          <p:nvPr/>
        </p:nvSpPr>
        <p:spPr>
          <a:xfrm>
            <a:off x="6528816" y="26974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Conciliar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aplican las reglas a cada factura y se cruza con contabilidad.</a:t>
            </a:r>
            <a:endParaRPr lang="en-US" sz="2000" dirty="0"/>
          </a:p>
        </p:txBody>
      </p:sp>
      <p:sp>
        <p:nvSpPr>
          <p:cNvPr id="17" name="Flecha 3"/>
          <p:cNvSpPr txBox="1"/>
          <p:nvPr/>
        </p:nvSpPr>
        <p:spPr>
          <a:xfrm>
            <a:off x="8750808" y="25146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›</a:t>
            </a:r>
            <a:endParaRPr lang="en-US" sz="2800" dirty="0"/>
          </a:p>
        </p:txBody>
      </p:sp>
      <p:sp>
        <p:nvSpPr>
          <p:cNvPr id="18" name="Paso 4"/>
          <p:cNvSpPr/>
          <p:nvPr/>
        </p:nvSpPr>
        <p:spPr>
          <a:xfrm>
            <a:off x="9107424" y="160020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úmero 4"/>
          <p:cNvSpPr/>
          <p:nvPr/>
        </p:nvSpPr>
        <p:spPr>
          <a:xfrm>
            <a:off x="9381744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ifra paso 4"/>
          <p:cNvSpPr txBox="1"/>
          <p:nvPr/>
        </p:nvSpPr>
        <p:spPr>
          <a:xfrm>
            <a:off x="9381744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o paso 4"/>
          <p:cNvSpPr txBox="1"/>
          <p:nvPr/>
        </p:nvSpPr>
        <p:spPr>
          <a:xfrm>
            <a:off x="9381744" y="26974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Revisar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Resumen, filtros por estado o causa y detalle por factura.</a:t>
            </a:r>
            <a:endParaRPr lang="en-US" sz="2000" dirty="0"/>
          </a:p>
        </p:txBody>
      </p:sp>
      <p:sp>
        <p:nvSpPr>
          <p:cNvPr id="22" name="Encabezado validaciones"/>
          <p:cNvSpPr txBox="1"/>
          <p:nvPr/>
        </p:nvSpPr>
        <p:spPr>
          <a:xfrm>
            <a:off x="548640" y="4343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Qué valida en cada factura</a:t>
            </a:r>
            <a:endParaRPr lang="en-US" sz="1800" dirty="0"/>
          </a:p>
        </p:txBody>
      </p:sp>
      <p:sp>
        <p:nvSpPr>
          <p:cNvPr id="23" name="Regla 1"/>
          <p:cNvSpPr/>
          <p:nvPr/>
        </p:nvSpPr>
        <p:spPr>
          <a:xfrm>
            <a:off x="548640" y="4892040"/>
            <a:ext cx="17190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o regla 1"/>
          <p:cNvSpPr txBox="1"/>
          <p:nvPr/>
        </p:nvSpPr>
        <p:spPr>
          <a:xfrm>
            <a:off x="640080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IVA = base × tarifa</a:t>
            </a:r>
            <a:endParaRPr lang="en-US" sz="1300" dirty="0"/>
          </a:p>
        </p:txBody>
      </p:sp>
      <p:sp>
        <p:nvSpPr>
          <p:cNvPr id="25" name="Regla 2"/>
          <p:cNvSpPr/>
          <p:nvPr/>
        </p:nvSpPr>
        <p:spPr>
          <a:xfrm>
            <a:off x="2417674" y="4892040"/>
            <a:ext cx="17190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o regla 2"/>
          <p:cNvSpPr txBox="1"/>
          <p:nvPr/>
        </p:nvSpPr>
        <p:spPr>
          <a:xfrm>
            <a:off x="2509114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= base + IVA − retención</a:t>
            </a:r>
            <a:endParaRPr lang="en-US" sz="1300" dirty="0"/>
          </a:p>
        </p:txBody>
      </p:sp>
      <p:sp>
        <p:nvSpPr>
          <p:cNvPr id="27" name="Regla 3"/>
          <p:cNvSpPr/>
          <p:nvPr/>
        </p:nvSpPr>
        <p:spPr>
          <a:xfrm>
            <a:off x="4286707" y="4892040"/>
            <a:ext cx="17190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o regla 3"/>
          <p:cNvSpPr txBox="1"/>
          <p:nvPr/>
        </p:nvSpPr>
        <p:spPr>
          <a:xfrm>
            <a:off x="4378147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Retención = base × tarifa</a:t>
            </a:r>
            <a:endParaRPr lang="en-US" sz="1300" dirty="0"/>
          </a:p>
        </p:txBody>
      </p:sp>
      <p:sp>
        <p:nvSpPr>
          <p:cNvPr id="29" name="Regla 4"/>
          <p:cNvSpPr/>
          <p:nvPr/>
        </p:nvSpPr>
        <p:spPr>
          <a:xfrm>
            <a:off x="6155741" y="4892040"/>
            <a:ext cx="17190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o regla 4"/>
          <p:cNvSpPr txBox="1"/>
          <p:nvPr/>
        </p:nvSpPr>
        <p:spPr>
          <a:xfrm>
            <a:off x="6247181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Facturas duplicadas</a:t>
            </a:r>
            <a:endParaRPr lang="en-US" sz="1300" dirty="0"/>
          </a:p>
        </p:txBody>
      </p:sp>
      <p:sp>
        <p:nvSpPr>
          <p:cNvPr id="31" name="Regla 5"/>
          <p:cNvSpPr/>
          <p:nvPr/>
        </p:nvSpPr>
        <p:spPr>
          <a:xfrm>
            <a:off x="8024774" y="4892040"/>
            <a:ext cx="17190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o regla 5"/>
          <p:cNvSpPr txBox="1"/>
          <p:nvPr/>
        </p:nvSpPr>
        <p:spPr>
          <a:xfrm>
            <a:off x="8116214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Facturas sin registro contable</a:t>
            </a:r>
            <a:endParaRPr lang="en-US" sz="1300" dirty="0"/>
          </a:p>
        </p:txBody>
      </p:sp>
      <p:sp>
        <p:nvSpPr>
          <p:cNvPr id="33" name="Regla 6"/>
          <p:cNvSpPr/>
          <p:nvPr/>
        </p:nvSpPr>
        <p:spPr>
          <a:xfrm>
            <a:off x="9893808" y="4892040"/>
            <a:ext cx="17190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o regla 6"/>
          <p:cNvSpPr txBox="1"/>
          <p:nvPr/>
        </p:nvSpPr>
        <p:spPr>
          <a:xfrm>
            <a:off x="9985248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Estado y valor contabilizado</a:t>
            </a:r>
            <a:endParaRPr lang="en-US" sz="1300" dirty="0"/>
          </a:p>
        </p:txBody>
      </p:sp>
      <p:sp>
        <p:nvSpPr>
          <p:cNvPr id="35" name="Nota advertencias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Cada inconsistencia queda con su causa; las advertencias se informan para revisión sin cambiar la clasificación.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Resultados con los archivos de prueba</a:t>
            </a:r>
            <a:endParaRPr lang="en-US" sz="3400" dirty="0"/>
          </a:p>
        </p:txBody>
      </p:sp>
      <p:sp>
        <p:nvSpPr>
          <p:cNvPr id="3" name="Tarjeta facturas procesadas"/>
          <p:cNvSpPr/>
          <p:nvPr/>
        </p:nvSpPr>
        <p:spPr>
          <a:xfrm>
            <a:off x="548640" y="146304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fra facturas procesadas"/>
          <p:cNvSpPr txBox="1"/>
          <p:nvPr/>
        </p:nvSpPr>
        <p:spPr>
          <a:xfrm>
            <a:off x="777240" y="14630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50</a:t>
            </a:r>
            <a:endParaRPr lang="en-US" sz="4800" dirty="0"/>
          </a:p>
        </p:txBody>
      </p:sp>
      <p:sp>
        <p:nvSpPr>
          <p:cNvPr id="5" name="Etiqueta facturas procesadas"/>
          <p:cNvSpPr txBox="1"/>
          <p:nvPr/>
        </p:nvSpPr>
        <p:spPr>
          <a:xfrm>
            <a:off x="2606040" y="14630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facturas procesadas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48 únicas</a:t>
            </a:r>
            <a:endParaRPr lang="en-US" sz="1600" dirty="0"/>
          </a:p>
        </p:txBody>
      </p:sp>
      <p:sp>
        <p:nvSpPr>
          <p:cNvPr id="6" name="Tarjeta correctas"/>
          <p:cNvSpPr/>
          <p:nvPr/>
        </p:nvSpPr>
        <p:spPr>
          <a:xfrm>
            <a:off x="548640" y="288036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ifra correctas"/>
          <p:cNvSpPr txBox="1"/>
          <p:nvPr/>
        </p:nvSpPr>
        <p:spPr>
          <a:xfrm>
            <a:off x="777240" y="288036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32</a:t>
            </a:r>
            <a:endParaRPr lang="en-US" sz="4800" dirty="0"/>
          </a:p>
        </p:txBody>
      </p:sp>
      <p:pic>
        <p:nvPicPr>
          <p:cNvPr id="8" name="Ícono correctas" descr="correc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3246120"/>
            <a:ext cx="292608" cy="292608"/>
          </a:xfrm>
          <a:prstGeom prst="rect">
            <a:avLst/>
          </a:prstGeom>
        </p:spPr>
      </p:pic>
      <p:sp>
        <p:nvSpPr>
          <p:cNvPr id="9" name="Etiqueta correctas"/>
          <p:cNvSpPr txBox="1"/>
          <p:nvPr/>
        </p:nvSpPr>
        <p:spPr>
          <a:xfrm>
            <a:off x="2606040" y="28803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correctas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64 % del total</a:t>
            </a:r>
            <a:endParaRPr lang="en-US" sz="1600" dirty="0"/>
          </a:p>
        </p:txBody>
      </p:sp>
      <p:sp>
        <p:nvSpPr>
          <p:cNvPr id="10" name="Tarjeta con inconsistencia"/>
          <p:cNvSpPr/>
          <p:nvPr/>
        </p:nvSpPr>
        <p:spPr>
          <a:xfrm>
            <a:off x="548640" y="429768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fra con inconsistencia"/>
          <p:cNvSpPr txBox="1"/>
          <p:nvPr/>
        </p:nvSpPr>
        <p:spPr>
          <a:xfrm>
            <a:off x="777240" y="42976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18</a:t>
            </a:r>
            <a:endParaRPr lang="en-US" sz="4800" dirty="0"/>
          </a:p>
        </p:txBody>
      </p:sp>
      <p:pic>
        <p:nvPicPr>
          <p:cNvPr id="12" name="Ícono con inconsistencia" descr="con inconsistenc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4663440"/>
            <a:ext cx="292608" cy="292608"/>
          </a:xfrm>
          <a:prstGeom prst="rect">
            <a:avLst/>
          </a:prstGeom>
        </p:spPr>
      </p:pic>
      <p:sp>
        <p:nvSpPr>
          <p:cNvPr id="13" name="Etiqueta con inconsistencia"/>
          <p:cNvSpPr txBox="1"/>
          <p:nvPr/>
        </p:nvSpPr>
        <p:spPr>
          <a:xfrm>
            <a:off x="2606040" y="429768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 inconsistencia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36 % del total</a:t>
            </a:r>
            <a:endParaRPr lang="en-US" sz="1600" dirty="0"/>
          </a:p>
        </p:txBody>
      </p:sp>
      <p:sp>
        <p:nvSpPr>
          <p:cNvPr id="14" name="Título causas"/>
          <p:cNvSpPr txBox="1"/>
          <p:nvPr/>
        </p:nvSpPr>
        <p:spPr>
          <a:xfrm>
            <a:off x="4846320" y="1371600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Inconsistencias por causa (número de facturas)</a:t>
            </a:r>
            <a:endParaRPr lang="en-US" sz="1500" dirty="0"/>
          </a:p>
        </p:txBody>
      </p:sp>
      <p:sp>
        <p:nvSpPr>
          <p:cNvPr id="15" name="Etiqueta Factura duplicada"/>
          <p:cNvSpPr txBox="1"/>
          <p:nvPr/>
        </p:nvSpPr>
        <p:spPr>
          <a:xfrm>
            <a:off x="484632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Factura duplicada</a:t>
            </a:r>
            <a:endParaRPr lang="en-US" sz="1300" dirty="0"/>
          </a:p>
        </p:txBody>
      </p:sp>
      <p:sp>
        <p:nvSpPr>
          <p:cNvPr id="16" name="Barra Factura duplicada"/>
          <p:cNvSpPr/>
          <p:nvPr/>
        </p:nvSpPr>
        <p:spPr>
          <a:xfrm>
            <a:off x="7680960" y="1929384"/>
            <a:ext cx="3291840" cy="2560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Cantidad Factura duplicada"/>
          <p:cNvSpPr txBox="1"/>
          <p:nvPr/>
        </p:nvSpPr>
        <p:spPr>
          <a:xfrm>
            <a:off x="110642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Etiqueta Sin registro contable"/>
          <p:cNvSpPr txBox="1"/>
          <p:nvPr/>
        </p:nvSpPr>
        <p:spPr>
          <a:xfrm>
            <a:off x="4846320" y="23682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 registro contable</a:t>
            </a:r>
            <a:endParaRPr lang="en-US" sz="1300" dirty="0"/>
          </a:p>
        </p:txBody>
      </p:sp>
      <p:sp>
        <p:nvSpPr>
          <p:cNvPr id="19" name="Barra Sin registro contable"/>
          <p:cNvSpPr/>
          <p:nvPr/>
        </p:nvSpPr>
        <p:spPr>
          <a:xfrm>
            <a:off x="7680960" y="2423160"/>
            <a:ext cx="3291840" cy="2560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Cantidad Sin registro contable"/>
          <p:cNvSpPr txBox="1"/>
          <p:nvPr/>
        </p:nvSpPr>
        <p:spPr>
          <a:xfrm>
            <a:off x="1106424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Etiqueta Campo obligatorio vacío"/>
          <p:cNvSpPr txBox="1"/>
          <p:nvPr/>
        </p:nvSpPr>
        <p:spPr>
          <a:xfrm>
            <a:off x="4846320" y="28620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Campo obligatorio vacío</a:t>
            </a:r>
            <a:endParaRPr lang="en-US" sz="1300" dirty="0"/>
          </a:p>
        </p:txBody>
      </p:sp>
      <p:sp>
        <p:nvSpPr>
          <p:cNvPr id="22" name="Barra Campo obligatorio vacío"/>
          <p:cNvSpPr/>
          <p:nvPr/>
        </p:nvSpPr>
        <p:spPr>
          <a:xfrm>
            <a:off x="7680960" y="2916936"/>
            <a:ext cx="2468880" cy="2560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Cantidad Campo obligatorio vacío"/>
          <p:cNvSpPr txBox="1"/>
          <p:nvPr/>
        </p:nvSpPr>
        <p:spPr>
          <a:xfrm>
            <a:off x="1024128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Etiqueta Total no cuadra"/>
          <p:cNvSpPr txBox="1"/>
          <p:nvPr/>
        </p:nvSpPr>
        <p:spPr>
          <a:xfrm>
            <a:off x="4846320" y="33558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no cuadra</a:t>
            </a:r>
            <a:endParaRPr lang="en-US" sz="1300" dirty="0"/>
          </a:p>
        </p:txBody>
      </p:sp>
      <p:sp>
        <p:nvSpPr>
          <p:cNvPr id="25" name="Barra Total no cuadra"/>
          <p:cNvSpPr/>
          <p:nvPr/>
        </p:nvSpPr>
        <p:spPr>
          <a:xfrm>
            <a:off x="7680960" y="3410712"/>
            <a:ext cx="2468880" cy="2560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" name="Cantidad Total no cuadra"/>
          <p:cNvSpPr txBox="1"/>
          <p:nvPr/>
        </p:nvSpPr>
        <p:spPr>
          <a:xfrm>
            <a:off x="1024128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Etiqueta Contabilización pendiente"/>
          <p:cNvSpPr txBox="1"/>
          <p:nvPr/>
        </p:nvSpPr>
        <p:spPr>
          <a:xfrm>
            <a:off x="4846320" y="38496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Contabilización pendiente</a:t>
            </a:r>
            <a:endParaRPr lang="en-US" sz="1300" dirty="0"/>
          </a:p>
        </p:txBody>
      </p:sp>
      <p:sp>
        <p:nvSpPr>
          <p:cNvPr id="28" name="Barra Contabilización pendiente"/>
          <p:cNvSpPr/>
          <p:nvPr/>
        </p:nvSpPr>
        <p:spPr>
          <a:xfrm>
            <a:off x="7680960" y="3904488"/>
            <a:ext cx="2468880" cy="2560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Cantidad Contabilización pendiente"/>
          <p:cNvSpPr txBox="1"/>
          <p:nvPr/>
        </p:nvSpPr>
        <p:spPr>
          <a:xfrm>
            <a:off x="1024128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Etiqueta IVA mal calculado"/>
          <p:cNvSpPr txBox="1"/>
          <p:nvPr/>
        </p:nvSpPr>
        <p:spPr>
          <a:xfrm>
            <a:off x="4846320" y="4343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IVA mal calculado</a:t>
            </a:r>
            <a:endParaRPr lang="en-US" sz="1300" dirty="0"/>
          </a:p>
        </p:txBody>
      </p:sp>
      <p:sp>
        <p:nvSpPr>
          <p:cNvPr id="31" name="Barra IVA mal calculado"/>
          <p:cNvSpPr/>
          <p:nvPr/>
        </p:nvSpPr>
        <p:spPr>
          <a:xfrm>
            <a:off x="7680960" y="4398264"/>
            <a:ext cx="1645920" cy="2560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2" name="Cantidad IVA mal calculado"/>
          <p:cNvSpPr txBox="1"/>
          <p:nvPr/>
        </p:nvSpPr>
        <p:spPr>
          <a:xfrm>
            <a:off x="941832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3" name="Etiqueta Valor contabilizado diferente"/>
          <p:cNvSpPr txBox="1"/>
          <p:nvPr/>
        </p:nvSpPr>
        <p:spPr>
          <a:xfrm>
            <a:off x="4846320" y="483717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Valor contabilizado diferente</a:t>
            </a:r>
            <a:endParaRPr lang="en-US" sz="1300" dirty="0"/>
          </a:p>
        </p:txBody>
      </p:sp>
      <p:sp>
        <p:nvSpPr>
          <p:cNvPr id="34" name="Barra Valor contabilizado diferente"/>
          <p:cNvSpPr/>
          <p:nvPr/>
        </p:nvSpPr>
        <p:spPr>
          <a:xfrm>
            <a:off x="7680960" y="4892040"/>
            <a:ext cx="1645920" cy="2560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5" name="Cantidad Valor contabilizado diferente"/>
          <p:cNvSpPr txBox="1"/>
          <p:nvPr/>
        </p:nvSpPr>
        <p:spPr>
          <a:xfrm>
            <a:off x="941832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6" name="Nota causas"/>
          <p:cNvSpPr txBox="1"/>
          <p:nvPr/>
        </p:nvSpPr>
        <p:spPr>
          <a:xfrm>
            <a:off x="4846320" y="534924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Una factura puede tener varias causas.</a:t>
            </a:r>
            <a:endParaRPr lang="en-US" sz="1100" dirty="0"/>
          </a:p>
        </p:txBody>
      </p:sp>
      <p:sp>
        <p:nvSpPr>
          <p:cNvPr id="37" name="Montos"/>
          <p:cNvSpPr txBox="1"/>
          <p:nvPr/>
        </p:nvSpPr>
        <p:spPr>
          <a:xfrm>
            <a:off x="548640" y="5760720"/>
            <a:ext cx="1110996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Montos a revisar: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$11,5 M sin contabilizar  ·  $5,6 M con contabilización pendiente  ·  $106.500 en diferencias de cálculo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Beneficios esperados</a:t>
            </a:r>
            <a:endParaRPr lang="en-US" sz="3400" dirty="0"/>
          </a:p>
        </p:txBody>
      </p:sp>
      <p:sp>
        <p:nvSpPr>
          <p:cNvPr id="3" name="Encabezado hoy"/>
          <p:cNvSpPr txBox="1"/>
          <p:nvPr/>
        </p:nvSpPr>
        <p:spPr>
          <a:xfrm>
            <a:off x="4160520" y="1371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Hoy (proceso manual)</a:t>
            </a:r>
            <a:endParaRPr lang="en-US" sz="1500" dirty="0"/>
          </a:p>
        </p:txBody>
      </p:sp>
      <p:sp>
        <p:nvSpPr>
          <p:cNvPr id="4" name="Encabezado prototipo"/>
          <p:cNvSpPr txBox="1"/>
          <p:nvPr/>
        </p:nvSpPr>
        <p:spPr>
          <a:xfrm>
            <a:off x="7955280" y="1371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 el prototipo</a:t>
            </a:r>
            <a:endParaRPr lang="en-US" sz="1500" dirty="0"/>
          </a:p>
        </p:txBody>
      </p:sp>
      <p:sp>
        <p:nvSpPr>
          <p:cNvPr id="5" name="Círculo Menos trabajo manual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Ícono Menos trabajo manual" descr="Menos trabajo manu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171700"/>
            <a:ext cx="320040" cy="320040"/>
          </a:xfrm>
          <a:prstGeom prst="rect">
            <a:avLst/>
          </a:prstGeom>
        </p:spPr>
      </p:pic>
      <p:sp>
        <p:nvSpPr>
          <p:cNvPr id="7" name="Beneficio Menos trabajo manual"/>
          <p:cNvSpPr txBox="1"/>
          <p:nvPr/>
        </p:nvSpPr>
        <p:spPr>
          <a:xfrm>
            <a:off x="137160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Menos trabajo manual</a:t>
            </a:r>
            <a:endParaRPr lang="en-US" sz="1700" dirty="0"/>
          </a:p>
        </p:txBody>
      </p:sp>
      <p:sp>
        <p:nvSpPr>
          <p:cNvPr id="8" name="Hoy Menos trabajo manual"/>
          <p:cNvSpPr/>
          <p:nvPr/>
        </p:nvSpPr>
        <p:spPr>
          <a:xfrm>
            <a:off x="4160520" y="1874520"/>
            <a:ext cx="3703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o hoy Menos trabajo manual"/>
          <p:cNvSpPr txBox="1"/>
          <p:nvPr/>
        </p:nvSpPr>
        <p:spPr>
          <a:xfrm>
            <a:off x="434340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analista cruza los dos archivos factura por factura.</a:t>
            </a:r>
            <a:endParaRPr lang="en-US" sz="1400" dirty="0"/>
          </a:p>
        </p:txBody>
      </p:sp>
      <p:sp>
        <p:nvSpPr>
          <p:cNvPr id="10" name="Prototipo Menos trabajo manual"/>
          <p:cNvSpPr/>
          <p:nvPr/>
        </p:nvSpPr>
        <p:spPr>
          <a:xfrm>
            <a:off x="7955280" y="1874520"/>
            <a:ext cx="37033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o prototipo Menos trabajo manual"/>
          <p:cNvSpPr txBox="1"/>
          <p:nvPr/>
        </p:nvSpPr>
        <p:spPr>
          <a:xfrm>
            <a:off x="813816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cruce se hace automáticamente al cargar los archivos.</a:t>
            </a:r>
            <a:endParaRPr lang="en-US" sz="1400" dirty="0"/>
          </a:p>
        </p:txBody>
      </p:sp>
      <p:sp>
        <p:nvSpPr>
          <p:cNvPr id="12" name="Círculo Trazabilidad"/>
          <p:cNvSpPr/>
          <p:nvPr/>
        </p:nvSpPr>
        <p:spPr>
          <a:xfrm>
            <a:off x="548640" y="308152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o Trazabilidad" descr="Trazabilid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241548"/>
            <a:ext cx="320040" cy="320040"/>
          </a:xfrm>
          <a:prstGeom prst="rect">
            <a:avLst/>
          </a:prstGeom>
        </p:spPr>
      </p:pic>
      <p:sp>
        <p:nvSpPr>
          <p:cNvPr id="14" name="Beneficio Trazabilidad"/>
          <p:cNvSpPr txBox="1"/>
          <p:nvPr/>
        </p:nvSpPr>
        <p:spPr>
          <a:xfrm>
            <a:off x="1371600" y="294436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Trazabilidad</a:t>
            </a:r>
            <a:endParaRPr lang="en-US" sz="1700" dirty="0"/>
          </a:p>
        </p:txBody>
      </p:sp>
      <p:sp>
        <p:nvSpPr>
          <p:cNvPr id="15" name="Hoy Trazabilidad"/>
          <p:cNvSpPr/>
          <p:nvPr/>
        </p:nvSpPr>
        <p:spPr>
          <a:xfrm>
            <a:off x="4160520" y="2944368"/>
            <a:ext cx="3703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 hoy Trazabilidad"/>
          <p:cNvSpPr txBox="1"/>
          <p:nvPr/>
        </p:nvSpPr>
        <p:spPr>
          <a:xfrm>
            <a:off x="4343400" y="294436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 difícil explicar por qué una factura no cuadra.</a:t>
            </a:r>
            <a:endParaRPr lang="en-US" sz="1400" dirty="0"/>
          </a:p>
        </p:txBody>
      </p:sp>
      <p:sp>
        <p:nvSpPr>
          <p:cNvPr id="17" name="Prototipo Trazabilidad"/>
          <p:cNvSpPr/>
          <p:nvPr/>
        </p:nvSpPr>
        <p:spPr>
          <a:xfrm>
            <a:off x="7955280" y="2944368"/>
            <a:ext cx="37033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o prototipo Trazabilidad"/>
          <p:cNvSpPr txBox="1"/>
          <p:nvPr/>
        </p:nvSpPr>
        <p:spPr>
          <a:xfrm>
            <a:off x="8138160" y="294436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causa muestra el valor reportado, el esperado y la diferencia.</a:t>
            </a:r>
            <a:endParaRPr lang="en-US" sz="1400" dirty="0"/>
          </a:p>
        </p:txBody>
      </p:sp>
      <p:sp>
        <p:nvSpPr>
          <p:cNvPr id="19" name="Círculo Criterios uniformes"/>
          <p:cNvSpPr/>
          <p:nvPr/>
        </p:nvSpPr>
        <p:spPr>
          <a:xfrm>
            <a:off x="548640" y="415137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Ícono Criterios uniformes" descr="Criterios unifor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311396"/>
            <a:ext cx="320040" cy="320040"/>
          </a:xfrm>
          <a:prstGeom prst="rect">
            <a:avLst/>
          </a:prstGeom>
        </p:spPr>
      </p:pic>
      <p:sp>
        <p:nvSpPr>
          <p:cNvPr id="21" name="Beneficio Criterios uniformes"/>
          <p:cNvSpPr txBox="1"/>
          <p:nvPr/>
        </p:nvSpPr>
        <p:spPr>
          <a:xfrm>
            <a:off x="1371600" y="401421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Criterios uniformes</a:t>
            </a:r>
            <a:endParaRPr lang="en-US" sz="1700" dirty="0"/>
          </a:p>
        </p:txBody>
      </p:sp>
      <p:sp>
        <p:nvSpPr>
          <p:cNvPr id="22" name="Hoy Criterios uniformes"/>
          <p:cNvSpPr/>
          <p:nvPr/>
        </p:nvSpPr>
        <p:spPr>
          <a:xfrm>
            <a:off x="4160520" y="4014216"/>
            <a:ext cx="3703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o hoy Criterios uniformes"/>
          <p:cNvSpPr txBox="1"/>
          <p:nvPr/>
        </p:nvSpPr>
        <p:spPr>
          <a:xfrm>
            <a:off x="4343400" y="4014216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resultado depende de quién revisa.</a:t>
            </a:r>
            <a:endParaRPr lang="en-US" sz="1400" dirty="0"/>
          </a:p>
        </p:txBody>
      </p:sp>
      <p:sp>
        <p:nvSpPr>
          <p:cNvPr id="24" name="Prototipo Criterios uniformes"/>
          <p:cNvSpPr/>
          <p:nvPr/>
        </p:nvSpPr>
        <p:spPr>
          <a:xfrm>
            <a:off x="7955280" y="4014216"/>
            <a:ext cx="37033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o prototipo Criterios uniformes"/>
          <p:cNvSpPr txBox="1"/>
          <p:nvPr/>
        </p:nvSpPr>
        <p:spPr>
          <a:xfrm>
            <a:off x="8138160" y="4014216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mismas reglas se aplican en cada conciliación.</a:t>
            </a:r>
            <a:endParaRPr lang="en-US" sz="1400" dirty="0"/>
          </a:p>
        </p:txBody>
      </p:sp>
      <p:sp>
        <p:nvSpPr>
          <p:cNvPr id="26" name="Círculo Menos reprocesos"/>
          <p:cNvSpPr/>
          <p:nvPr/>
        </p:nvSpPr>
        <p:spPr>
          <a:xfrm>
            <a:off x="548640" y="522122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Ícono Menos reprocesos" descr="Menos reproces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5381244"/>
            <a:ext cx="320040" cy="320040"/>
          </a:xfrm>
          <a:prstGeom prst="rect">
            <a:avLst/>
          </a:prstGeom>
        </p:spPr>
      </p:pic>
      <p:sp>
        <p:nvSpPr>
          <p:cNvPr id="28" name="Beneficio Menos reprocesos"/>
          <p:cNvSpPr txBox="1"/>
          <p:nvPr/>
        </p:nvSpPr>
        <p:spPr>
          <a:xfrm>
            <a:off x="1371600" y="508406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Menos reprocesos</a:t>
            </a:r>
            <a:endParaRPr lang="en-US" sz="1700" dirty="0"/>
          </a:p>
        </p:txBody>
      </p:sp>
      <p:sp>
        <p:nvSpPr>
          <p:cNvPr id="29" name="Hoy Menos reprocesos"/>
          <p:cNvSpPr/>
          <p:nvPr/>
        </p:nvSpPr>
        <p:spPr>
          <a:xfrm>
            <a:off x="4160520" y="5084064"/>
            <a:ext cx="3703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o hoy Menos reprocesos"/>
          <p:cNvSpPr txBox="1"/>
          <p:nvPr/>
        </p:nvSpPr>
        <p:spPr>
          <a:xfrm>
            <a:off x="4343400" y="5084064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Las diferencias se detectan tarde.</a:t>
            </a:r>
            <a:endParaRPr lang="en-US" sz="1400" dirty="0"/>
          </a:p>
        </p:txBody>
      </p:sp>
      <p:sp>
        <p:nvSpPr>
          <p:cNvPr id="31" name="Prototipo Menos reprocesos"/>
          <p:cNvSpPr/>
          <p:nvPr/>
        </p:nvSpPr>
        <p:spPr>
          <a:xfrm>
            <a:off x="7955280" y="5084064"/>
            <a:ext cx="37033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o prototipo Menos reprocesos"/>
          <p:cNvSpPr txBox="1"/>
          <p:nvPr/>
        </p:nvSpPr>
        <p:spPr>
          <a:xfrm>
            <a:off x="8138160" y="5084064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Duplicadas, sin contabilizar y pendientes quedan visibles de inmediato.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iliador">
  <a:themeElements>
    <a:clrScheme name="Conciliador">
      <a:dk1>
        <a:srgbClr val="2C2A29"/>
      </a:dk1>
      <a:lt1>
        <a:srgbClr val="FFFFFF"/>
      </a:lt1>
      <a:dk2>
        <a:srgbClr val="595755"/>
      </a:dk2>
      <a:lt2>
        <a:srgbClr val="F7F7F7"/>
      </a:lt2>
      <a:accent1>
        <a:srgbClr val="FDDA24"/>
      </a:accent1>
      <a:accent2>
        <a:srgbClr val="B3261E"/>
      </a:accent2>
      <a:accent3>
        <a:srgbClr val="1B6E33"/>
      </a:accent3>
      <a:accent4>
        <a:srgbClr val="A84300"/>
      </a:accent4>
      <a:accent5>
        <a:srgbClr val="1D5FA8"/>
      </a:accent5>
      <a:accent6>
        <a:srgbClr val="767676"/>
      </a:accent6>
      <a:hlink>
        <a:srgbClr val="1D5FA8"/>
      </a:hlink>
      <a:folHlink>
        <a:srgbClr val="4A4A4A"/>
      </a:folHlink>
    </a:clrScheme>
    <a:fontScheme name="Conciliado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Conciliador de facturas y retenciones</dc:title>
  <dc:subject>Prueba técnica - propuesta de prototipo</dc:subject>
  <dc:creator>Candidato Analista III</dc:creator>
  <cp:lastModifiedBy>Candidato Analista III</cp:lastModifiedBy>
  <cp:revision>1</cp:revision>
  <dcterms:created xsi:type="dcterms:W3CDTF">2026-10-16T01:32:40Z</dcterms:created>
  <dcterms:modified xsi:type="dcterms:W3CDTF">2026-10-16T01:32:40Z</dcterms:modified>
</cp:coreProperties>
</file>